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0" r:id="rId1"/>
  </p:sldMasterIdLst>
  <p:sldIdLst>
    <p:sldId id="256" r:id="rId2"/>
    <p:sldId id="259" r:id="rId3"/>
    <p:sldId id="257" r:id="rId4"/>
    <p:sldId id="258" r:id="rId5"/>
    <p:sldId id="260" r:id="rId6"/>
    <p:sldId id="261" r:id="rId7"/>
    <p:sldId id="262" r:id="rId8"/>
    <p:sldId id="263" r:id="rId9"/>
    <p:sldId id="274" r:id="rId10"/>
    <p:sldId id="264" r:id="rId11"/>
    <p:sldId id="265" r:id="rId12"/>
    <p:sldId id="267" r:id="rId13"/>
    <p:sldId id="273" r:id="rId14"/>
    <p:sldId id="268" r:id="rId15"/>
    <p:sldId id="269" r:id="rId16"/>
    <p:sldId id="266"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8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13165C0-7532-4F61-BB17-EE7E4390C8A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8DD3B9-70C8-426F-BB7C-5086A3E41930}" type="slidenum">
              <a:rPr lang="en-US" smtClean="0"/>
              <a:t>‹#›</a:t>
            </a:fld>
            <a:endParaRPr lang="en-US"/>
          </a:p>
        </p:txBody>
      </p:sp>
    </p:spTree>
    <p:extLst>
      <p:ext uri="{BB962C8B-B14F-4D97-AF65-F5344CB8AC3E}">
        <p14:creationId xmlns:p14="http://schemas.microsoft.com/office/powerpoint/2010/main" val="3958212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3165C0-7532-4F61-BB17-EE7E4390C8A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8DD3B9-70C8-426F-BB7C-5086A3E41930}" type="slidenum">
              <a:rPr lang="en-US" smtClean="0"/>
              <a:t>‹#›</a:t>
            </a:fld>
            <a:endParaRPr lang="en-US"/>
          </a:p>
        </p:txBody>
      </p:sp>
    </p:spTree>
    <p:extLst>
      <p:ext uri="{BB962C8B-B14F-4D97-AF65-F5344CB8AC3E}">
        <p14:creationId xmlns:p14="http://schemas.microsoft.com/office/powerpoint/2010/main" val="2195837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3165C0-7532-4F61-BB17-EE7E4390C8A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8DD3B9-70C8-426F-BB7C-5086A3E41930}" type="slidenum">
              <a:rPr lang="en-US" smtClean="0"/>
              <a:t>‹#›</a:t>
            </a:fld>
            <a:endParaRPr lang="en-US"/>
          </a:p>
        </p:txBody>
      </p:sp>
    </p:spTree>
    <p:extLst>
      <p:ext uri="{BB962C8B-B14F-4D97-AF65-F5344CB8AC3E}">
        <p14:creationId xmlns:p14="http://schemas.microsoft.com/office/powerpoint/2010/main" val="2554711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13165C0-7532-4F61-BB17-EE7E4390C8A7}" type="datetimeFigureOut">
              <a:rPr lang="en-US" smtClean="0"/>
              <a:t>10/15/2019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8DD3B9-70C8-426F-BB7C-5086A3E41930}" type="slidenum">
              <a:rPr lang="en-US" smtClean="0"/>
              <a:t>‹#›</a:t>
            </a:fld>
            <a:endParaRPr lang="en-US"/>
          </a:p>
        </p:txBody>
      </p:sp>
    </p:spTree>
    <p:extLst>
      <p:ext uri="{BB962C8B-B14F-4D97-AF65-F5344CB8AC3E}">
        <p14:creationId xmlns:p14="http://schemas.microsoft.com/office/powerpoint/2010/main" val="2547482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13165C0-7532-4F61-BB17-EE7E4390C8A7}" type="datetimeFigureOut">
              <a:rPr lang="en-US" smtClean="0"/>
              <a:t>10/15/2019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8DD3B9-70C8-426F-BB7C-5086A3E41930}" type="slidenum">
              <a:rPr lang="en-US" smtClean="0"/>
              <a:t>‹#›</a:t>
            </a:fld>
            <a:endParaRPr lang="en-US"/>
          </a:p>
        </p:txBody>
      </p:sp>
    </p:spTree>
    <p:extLst>
      <p:ext uri="{BB962C8B-B14F-4D97-AF65-F5344CB8AC3E}">
        <p14:creationId xmlns:p14="http://schemas.microsoft.com/office/powerpoint/2010/main" val="2926939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13165C0-7532-4F61-BB17-EE7E4390C8A7}" type="datetimeFigureOut">
              <a:rPr lang="en-US" smtClean="0"/>
              <a:t>10/15/2019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8DD3B9-70C8-426F-BB7C-5086A3E41930}" type="slidenum">
              <a:rPr lang="en-US" smtClean="0"/>
              <a:t>‹#›</a:t>
            </a:fld>
            <a:endParaRPr lang="en-US"/>
          </a:p>
        </p:txBody>
      </p:sp>
    </p:spTree>
    <p:extLst>
      <p:ext uri="{BB962C8B-B14F-4D97-AF65-F5344CB8AC3E}">
        <p14:creationId xmlns:p14="http://schemas.microsoft.com/office/powerpoint/2010/main" val="60142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3165C0-7532-4F61-BB17-EE7E4390C8A7}" type="datetimeFigureOut">
              <a:rPr lang="en-US" smtClean="0"/>
              <a:t>10/15/2019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8DD3B9-70C8-426F-BB7C-5086A3E41930}" type="slidenum">
              <a:rPr lang="en-US" smtClean="0"/>
              <a:t>‹#›</a:t>
            </a:fld>
            <a:endParaRPr lang="en-US"/>
          </a:p>
        </p:txBody>
      </p:sp>
    </p:spTree>
    <p:extLst>
      <p:ext uri="{BB962C8B-B14F-4D97-AF65-F5344CB8AC3E}">
        <p14:creationId xmlns:p14="http://schemas.microsoft.com/office/powerpoint/2010/main" val="2275622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3165C0-7532-4F61-BB17-EE7E4390C8A7}" type="datetimeFigureOut">
              <a:rPr lang="en-US" smtClean="0"/>
              <a:t>10/15/2019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8DD3B9-70C8-426F-BB7C-5086A3E41930}" type="slidenum">
              <a:rPr lang="en-US" smtClean="0"/>
              <a:t>‹#›</a:t>
            </a:fld>
            <a:endParaRPr lang="en-US"/>
          </a:p>
        </p:txBody>
      </p:sp>
    </p:spTree>
    <p:extLst>
      <p:ext uri="{BB962C8B-B14F-4D97-AF65-F5344CB8AC3E}">
        <p14:creationId xmlns:p14="http://schemas.microsoft.com/office/powerpoint/2010/main" val="1804163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3165C0-7532-4F61-BB17-EE7E4390C8A7}" type="datetimeFigureOut">
              <a:rPr lang="en-US" smtClean="0"/>
              <a:t>10/15/2019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8DD3B9-70C8-426F-BB7C-5086A3E41930}" type="slidenum">
              <a:rPr lang="en-US" smtClean="0"/>
              <a:t>‹#›</a:t>
            </a:fld>
            <a:endParaRPr lang="en-US"/>
          </a:p>
        </p:txBody>
      </p:sp>
    </p:spTree>
    <p:extLst>
      <p:ext uri="{BB962C8B-B14F-4D97-AF65-F5344CB8AC3E}">
        <p14:creationId xmlns:p14="http://schemas.microsoft.com/office/powerpoint/2010/main" val="3341466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3165C0-7532-4F61-BB17-EE7E4390C8A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8DD3B9-70C8-426F-BB7C-5086A3E41930}" type="slidenum">
              <a:rPr lang="en-US" smtClean="0"/>
              <a:t>‹#›</a:t>
            </a:fld>
            <a:endParaRPr lang="en-US"/>
          </a:p>
        </p:txBody>
      </p:sp>
    </p:spTree>
    <p:extLst>
      <p:ext uri="{BB962C8B-B14F-4D97-AF65-F5344CB8AC3E}">
        <p14:creationId xmlns:p14="http://schemas.microsoft.com/office/powerpoint/2010/main" val="135540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13165C0-7532-4F61-BB17-EE7E4390C8A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8DD3B9-70C8-426F-BB7C-5086A3E41930}" type="slidenum">
              <a:rPr lang="en-US" smtClean="0"/>
              <a:t>‹#›</a:t>
            </a:fld>
            <a:endParaRPr lang="en-US"/>
          </a:p>
        </p:txBody>
      </p:sp>
    </p:spTree>
    <p:extLst>
      <p:ext uri="{BB962C8B-B14F-4D97-AF65-F5344CB8AC3E}">
        <p14:creationId xmlns:p14="http://schemas.microsoft.com/office/powerpoint/2010/main" val="1363394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3165C0-7532-4F61-BB17-EE7E4390C8A7}" type="datetimeFigureOut">
              <a:rPr lang="en-US" smtClean="0"/>
              <a:t>10/15/2019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8DD3B9-70C8-426F-BB7C-5086A3E41930}" type="slidenum">
              <a:rPr lang="en-US" smtClean="0"/>
              <a:t>‹#›</a:t>
            </a:fld>
            <a:endParaRPr lang="en-US"/>
          </a:p>
        </p:txBody>
      </p:sp>
    </p:spTree>
    <p:extLst>
      <p:ext uri="{BB962C8B-B14F-4D97-AF65-F5344CB8AC3E}">
        <p14:creationId xmlns:p14="http://schemas.microsoft.com/office/powerpoint/2010/main" val="240142617"/>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89090" y="354449"/>
            <a:ext cx="7621510" cy="800219"/>
          </a:xfrm>
          <a:prstGeom prst="rect">
            <a:avLst/>
          </a:prstGeom>
          <a:noFill/>
        </p:spPr>
        <p:txBody>
          <a:bodyPr wrap="square" rtlCol="0">
            <a:spAutoFit/>
          </a:bodyPr>
          <a:lstStyle/>
          <a:p>
            <a:pPr algn="ctr"/>
            <a:r>
              <a:rPr lang="en-US" sz="1400" dirty="0" err="1"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Audyogik</a:t>
            </a:r>
            <a:r>
              <a:rPr lang="en-US" sz="1400" dirty="0"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 </a:t>
            </a:r>
            <a:r>
              <a:rPr lang="en-US" sz="1400" dirty="0" err="1"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Tantra</a:t>
            </a:r>
            <a:r>
              <a:rPr lang="en-US" sz="1400" dirty="0"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 </a:t>
            </a:r>
            <a:r>
              <a:rPr lang="en-US" sz="1400" dirty="0" err="1"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Shikshan</a:t>
            </a:r>
            <a:r>
              <a:rPr lang="en-US" sz="1400" dirty="0"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 </a:t>
            </a:r>
            <a:r>
              <a:rPr lang="en-US" sz="1400" dirty="0" err="1"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Sanstha's</a:t>
            </a:r>
            <a:r>
              <a:rPr lang="en-US" sz="1400" dirty="0"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 (A T S S)</a:t>
            </a:r>
          </a:p>
          <a:p>
            <a:pPr algn="ctr"/>
            <a:endParaRPr lang="en-US" sz="1200" b="1" dirty="0" smtClean="0">
              <a:latin typeface="Times New Roman" panose="02020603050405020304" pitchFamily="18" charset="0"/>
              <a:ea typeface="Verdana" panose="020B0604030504040204" pitchFamily="34" charset="0"/>
              <a:cs typeface="Times New Roman" panose="02020603050405020304" pitchFamily="18" charset="0"/>
            </a:endParaRPr>
          </a:p>
          <a:p>
            <a:pPr algn="ctr"/>
            <a:r>
              <a:rPr lang="en-US" sz="2000" b="1" dirty="0"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I</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nstitute </a:t>
            </a:r>
            <a:r>
              <a:rPr lang="en-US" sz="2000" b="1" dirty="0">
                <a:solidFill>
                  <a:srgbClr val="C00000"/>
                </a:solidFill>
                <a:latin typeface="Times New Roman" panose="02020603050405020304" pitchFamily="18" charset="0"/>
                <a:ea typeface="Verdana" panose="020B0604030504040204" pitchFamily="34" charset="0"/>
                <a:cs typeface="Times New Roman" panose="02020603050405020304" pitchFamily="18" charset="0"/>
              </a:rPr>
              <a:t>O</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f </a:t>
            </a:r>
            <a:r>
              <a:rPr lang="en-US" sz="2000" b="1" dirty="0"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I</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ndustrial </a:t>
            </a:r>
            <a:r>
              <a:rPr lang="en-US" sz="2000" b="1" dirty="0">
                <a:solidFill>
                  <a:srgbClr val="C00000"/>
                </a:solidFill>
                <a:latin typeface="Times New Roman" panose="02020603050405020304" pitchFamily="18" charset="0"/>
                <a:ea typeface="Verdana" panose="020B0604030504040204" pitchFamily="34" charset="0"/>
                <a:cs typeface="Times New Roman" panose="02020603050405020304" pitchFamily="18" charset="0"/>
              </a:rPr>
              <a:t>A</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nd </a:t>
            </a:r>
            <a:r>
              <a:rPr lang="en-US" sz="2000" b="1" dirty="0"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C</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omputer </a:t>
            </a:r>
            <a:r>
              <a:rPr lang="en-US" sz="2000" b="1" dirty="0"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M</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anagement </a:t>
            </a:r>
            <a:r>
              <a:rPr lang="en-US" sz="2000" b="1" dirty="0">
                <a:solidFill>
                  <a:srgbClr val="C00000"/>
                </a:solidFill>
                <a:latin typeface="Times New Roman" panose="02020603050405020304" pitchFamily="18" charset="0"/>
                <a:ea typeface="Verdana" panose="020B0604030504040204" pitchFamily="34" charset="0"/>
                <a:cs typeface="Times New Roman" panose="02020603050405020304" pitchFamily="18" charset="0"/>
              </a:rPr>
              <a:t>A</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nd </a:t>
            </a:r>
            <a:r>
              <a:rPr lang="en-US" sz="2000" b="1" dirty="0" smtClean="0">
                <a:solidFill>
                  <a:srgbClr val="C00000"/>
                </a:solidFill>
                <a:latin typeface="Times New Roman" panose="02020603050405020304" pitchFamily="18" charset="0"/>
                <a:ea typeface="Verdana" panose="020B0604030504040204" pitchFamily="34" charset="0"/>
                <a:cs typeface="Times New Roman" panose="02020603050405020304" pitchFamily="18" charset="0"/>
              </a:rPr>
              <a:t>R</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esearch </a:t>
            </a:r>
            <a:endParaRPr lang="en-US" sz="20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5" name="TextBox 4"/>
          <p:cNvSpPr txBox="1"/>
          <p:nvPr/>
        </p:nvSpPr>
        <p:spPr>
          <a:xfrm>
            <a:off x="1447800" y="3048000"/>
            <a:ext cx="7162800" cy="800219"/>
          </a:xfrm>
          <a:prstGeom prst="rect">
            <a:avLst/>
          </a:prstGeom>
          <a:noFill/>
        </p:spPr>
        <p:txBody>
          <a:bodyPr wrap="square" rtlCol="0">
            <a:spAutoFit/>
          </a:bodyPr>
          <a:lstStyle/>
          <a:p>
            <a:pPr algn="ctr"/>
            <a:r>
              <a:rPr lang="en-US" sz="1400" dirty="0" smtClean="0">
                <a:latin typeface="Times New Roman" panose="02020603050405020304" pitchFamily="18" charset="0"/>
                <a:ea typeface="Verdana" panose="020B0604030504040204" pitchFamily="34" charset="0"/>
                <a:cs typeface="Times New Roman" panose="02020603050405020304" pitchFamily="18" charset="0"/>
              </a:rPr>
              <a:t>MCA-II </a:t>
            </a:r>
            <a:r>
              <a:rPr lang="en-US" sz="1400" dirty="0" err="1" smtClean="0">
                <a:latin typeface="Times New Roman" panose="02020603050405020304" pitchFamily="18" charset="0"/>
                <a:ea typeface="Verdana" panose="020B0604030504040204" pitchFamily="34" charset="0"/>
                <a:cs typeface="Times New Roman" panose="02020603050405020304" pitchFamily="18" charset="0"/>
              </a:rPr>
              <a:t>sem</a:t>
            </a:r>
            <a:r>
              <a:rPr lang="en-US" sz="1400" dirty="0" smtClean="0">
                <a:latin typeface="Times New Roman" panose="02020603050405020304" pitchFamily="18" charset="0"/>
                <a:ea typeface="Verdana" panose="020B0604030504040204" pitchFamily="34" charset="0"/>
                <a:cs typeface="Times New Roman" panose="02020603050405020304" pitchFamily="18" charset="0"/>
              </a:rPr>
              <a:t>-III   AIT Project  </a:t>
            </a:r>
            <a:r>
              <a:rPr lang="en-US" dirty="0" smtClean="0">
                <a:latin typeface="Times New Roman" panose="02020603050405020304" pitchFamily="18" charset="0"/>
                <a:cs typeface="Times New Roman" panose="02020603050405020304" pitchFamily="18" charset="0"/>
              </a:rPr>
              <a:t>  </a:t>
            </a:r>
          </a:p>
          <a:p>
            <a:pPr algn="ctr"/>
            <a:r>
              <a:rPr lang="en-US" sz="2800" dirty="0" smtClean="0">
                <a:latin typeface="Times New Roman" panose="02020603050405020304" pitchFamily="18" charset="0"/>
                <a:ea typeface="Verdana" panose="020B0604030504040204" pitchFamily="34" charset="0"/>
                <a:cs typeface="Times New Roman" panose="02020603050405020304" pitchFamily="18" charset="0"/>
              </a:rPr>
              <a:t> </a:t>
            </a:r>
            <a:r>
              <a:rPr lang="en-US" sz="2800" b="1" dirty="0" smtClean="0">
                <a:latin typeface="Times New Roman" panose="02020603050405020304" pitchFamily="18" charset="0"/>
                <a:ea typeface="Verdana" panose="020B0604030504040204" pitchFamily="34" charset="0"/>
                <a:cs typeface="Times New Roman" panose="02020603050405020304" pitchFamily="18" charset="0"/>
              </a:rPr>
              <a:t> “www.iicmrplacements.org” </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019629" y="3938826"/>
            <a:ext cx="5076371" cy="1600438"/>
          </a:xfrm>
          <a:prstGeom prst="rect">
            <a:avLst/>
          </a:prstGeom>
          <a:noFill/>
        </p:spPr>
        <p:txBody>
          <a:bodyPr wrap="square" rtlCol="0">
            <a:spAutoFit/>
          </a:bodyPr>
          <a:lstStyle/>
          <a:p>
            <a:r>
              <a:rPr lang="en-US" b="1" dirty="0" smtClean="0">
                <a:latin typeface="Times New Roman" panose="02020603050405020304" pitchFamily="18" charset="0"/>
                <a:ea typeface="Verdana" panose="020B0604030504040204" pitchFamily="34" charset="0"/>
                <a:cs typeface="Times New Roman" panose="02020603050405020304" pitchFamily="18" charset="0"/>
              </a:rPr>
              <a:t>Group Members :  </a:t>
            </a:r>
          </a:p>
          <a:p>
            <a:endParaRPr lang="en-US" sz="1600" b="1" dirty="0" smtClean="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Wingdings" panose="05000000000000000000" pitchFamily="2" charset="2"/>
              <a:buChar char="Ø"/>
            </a:pPr>
            <a:r>
              <a:rPr lang="en-US" sz="1600" dirty="0" err="1" smtClean="0">
                <a:latin typeface="Times New Roman" panose="02020603050405020304" pitchFamily="18" charset="0"/>
                <a:ea typeface="Verdana" panose="020B0604030504040204" pitchFamily="34" charset="0"/>
                <a:cs typeface="Times New Roman" panose="02020603050405020304" pitchFamily="18" charset="0"/>
              </a:rPr>
              <a:t>Nagbhushan</a:t>
            </a:r>
            <a:r>
              <a:rPr lang="en-US" sz="1600" dirty="0" smtClean="0">
                <a:latin typeface="Times New Roman" panose="02020603050405020304" pitchFamily="18" charset="0"/>
                <a:ea typeface="Verdana" panose="020B0604030504040204" pitchFamily="34" charset="0"/>
                <a:cs typeface="Times New Roman" panose="02020603050405020304" pitchFamily="18" charset="0"/>
              </a:rPr>
              <a:t>  </a:t>
            </a:r>
            <a:r>
              <a:rPr lang="en-US" sz="1600" dirty="0" err="1" smtClean="0">
                <a:latin typeface="Times New Roman" panose="02020603050405020304" pitchFamily="18" charset="0"/>
                <a:ea typeface="Verdana" panose="020B0604030504040204" pitchFamily="34" charset="0"/>
                <a:cs typeface="Times New Roman" panose="02020603050405020304" pitchFamily="18" charset="0"/>
              </a:rPr>
              <a:t>Kumbar</a:t>
            </a:r>
            <a:r>
              <a:rPr lang="en-US" sz="1600" dirty="0" smtClean="0">
                <a:latin typeface="Times New Roman" panose="02020603050405020304" pitchFamily="18" charset="0"/>
                <a:ea typeface="Verdana" panose="020B0604030504040204" pitchFamily="34" charset="0"/>
                <a:cs typeface="Times New Roman" panose="02020603050405020304" pitchFamily="18" charset="0"/>
              </a:rPr>
              <a:t>  		: Roll No. 26 </a:t>
            </a:r>
            <a:endParaRPr lang="en-US" sz="16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Wingdings" panose="05000000000000000000" pitchFamily="2" charset="2"/>
              <a:buChar char="Ø"/>
            </a:pPr>
            <a:endParaRPr lang="en-US" sz="1600" dirty="0" smtClean="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Wingdings" panose="05000000000000000000" pitchFamily="2" charset="2"/>
              <a:buChar char="Ø"/>
            </a:pPr>
            <a:r>
              <a:rPr lang="en-US" sz="1600" dirty="0" err="1" smtClean="0">
                <a:latin typeface="Times New Roman" panose="02020603050405020304" pitchFamily="18" charset="0"/>
                <a:ea typeface="Verdana" panose="020B0604030504040204" pitchFamily="34" charset="0"/>
                <a:cs typeface="Times New Roman" panose="02020603050405020304" pitchFamily="18" charset="0"/>
              </a:rPr>
              <a:t>Prajakta</a:t>
            </a:r>
            <a:r>
              <a:rPr lang="en-US" sz="1600" dirty="0" smtClean="0">
                <a:latin typeface="Times New Roman" panose="02020603050405020304" pitchFamily="18" charset="0"/>
                <a:ea typeface="Verdana" panose="020B0604030504040204" pitchFamily="34" charset="0"/>
                <a:cs typeface="Times New Roman" panose="02020603050405020304" pitchFamily="18" charset="0"/>
              </a:rPr>
              <a:t>  </a:t>
            </a:r>
            <a:r>
              <a:rPr lang="en-US" sz="1600" dirty="0" err="1" smtClean="0">
                <a:latin typeface="Times New Roman" panose="02020603050405020304" pitchFamily="18" charset="0"/>
                <a:ea typeface="Verdana" panose="020B0604030504040204" pitchFamily="34" charset="0"/>
                <a:cs typeface="Times New Roman" panose="02020603050405020304" pitchFamily="18" charset="0"/>
              </a:rPr>
              <a:t>Patil</a:t>
            </a:r>
            <a:r>
              <a:rPr lang="en-US" sz="1600" dirty="0" smtClean="0">
                <a:latin typeface="Times New Roman" panose="02020603050405020304" pitchFamily="18" charset="0"/>
                <a:ea typeface="Verdana" panose="020B0604030504040204" pitchFamily="34" charset="0"/>
                <a:cs typeface="Times New Roman" panose="02020603050405020304" pitchFamily="18" charset="0"/>
              </a:rPr>
              <a:t>           	  	: Roll No. 32   </a:t>
            </a:r>
          </a:p>
          <a:p>
            <a:endParaRPr lang="en-US" sz="1600" b="1" dirty="0" smtClean="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6200" y="1483408"/>
            <a:ext cx="1676400" cy="1488392"/>
          </a:xfrm>
          <a:prstGeom prst="rect">
            <a:avLst/>
          </a:prstGeom>
        </p:spPr>
      </p:pic>
      <p:sp>
        <p:nvSpPr>
          <p:cNvPr id="7" name="TextBox 6"/>
          <p:cNvSpPr txBox="1"/>
          <p:nvPr/>
        </p:nvSpPr>
        <p:spPr>
          <a:xfrm>
            <a:off x="990600" y="5462826"/>
            <a:ext cx="7162800" cy="861774"/>
          </a:xfrm>
          <a:prstGeom prst="rect">
            <a:avLst/>
          </a:prstGeom>
          <a:noFill/>
        </p:spPr>
        <p:txBody>
          <a:bodyPr wrap="square" rtlCol="0">
            <a:spAutoFit/>
          </a:bodyPr>
          <a:lstStyle/>
          <a:p>
            <a:r>
              <a:rPr lang="en-US" b="1" dirty="0" smtClean="0">
                <a:latin typeface="Times New Roman" panose="02020603050405020304" pitchFamily="18" charset="0"/>
                <a:ea typeface="Verdana" panose="020B0604030504040204" pitchFamily="34" charset="0"/>
                <a:cs typeface="Times New Roman" panose="02020603050405020304" pitchFamily="18" charset="0"/>
              </a:rPr>
              <a:t>Client :</a:t>
            </a:r>
          </a:p>
          <a:p>
            <a:r>
              <a:rPr lang="en-US" sz="1600" b="1" dirty="0">
                <a:latin typeface="Times New Roman" panose="02020603050405020304" pitchFamily="18" charset="0"/>
                <a:ea typeface="Verdana" panose="020B0604030504040204" pitchFamily="34" charset="0"/>
                <a:cs typeface="Times New Roman" panose="02020603050405020304" pitchFamily="18" charset="0"/>
              </a:rPr>
              <a:t>	</a:t>
            </a:r>
            <a:endParaRPr lang="en-US" sz="1600" b="1" dirty="0" smtClean="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Wingdings" panose="05000000000000000000" pitchFamily="2" charset="2"/>
              <a:buChar char="Ø"/>
            </a:pPr>
            <a:r>
              <a:rPr lang="en-US" sz="1600" dirty="0" smtClean="0">
                <a:latin typeface="Times New Roman" panose="02020603050405020304" pitchFamily="18" charset="0"/>
                <a:ea typeface="Verdana" panose="020B0604030504040204" pitchFamily="34" charset="0"/>
                <a:cs typeface="Times New Roman" panose="02020603050405020304" pitchFamily="18" charset="0"/>
              </a:rPr>
              <a:t>IICMR College, </a:t>
            </a:r>
            <a:r>
              <a:rPr lang="en-US" sz="1600" dirty="0" err="1" smtClean="0">
                <a:latin typeface="Times New Roman" panose="02020603050405020304" pitchFamily="18" charset="0"/>
                <a:ea typeface="Verdana" panose="020B0604030504040204" pitchFamily="34" charset="0"/>
                <a:cs typeface="Times New Roman" panose="02020603050405020304" pitchFamily="18" charset="0"/>
              </a:rPr>
              <a:t>Nigdi</a:t>
            </a:r>
            <a:r>
              <a:rPr lang="en-US" sz="1600" dirty="0" smtClean="0">
                <a:latin typeface="Times New Roman" panose="02020603050405020304" pitchFamily="18" charset="0"/>
                <a:ea typeface="Verdana" panose="020B0604030504040204" pitchFamily="34" charset="0"/>
                <a:cs typeface="Times New Roman" panose="02020603050405020304" pitchFamily="18" charset="0"/>
              </a:rPr>
              <a:t>.</a:t>
            </a:r>
          </a:p>
        </p:txBody>
      </p:sp>
    </p:spTree>
    <p:extLst>
      <p:ext uri="{BB962C8B-B14F-4D97-AF65-F5344CB8AC3E}">
        <p14:creationId xmlns:p14="http://schemas.microsoft.com/office/powerpoint/2010/main" val="32967083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89090" y="304800"/>
            <a:ext cx="7621510" cy="523220"/>
          </a:xfrm>
          <a:prstGeom prst="rect">
            <a:avLst/>
          </a:prstGeom>
          <a:noFill/>
        </p:spPr>
        <p:txBody>
          <a:bodyPr wrap="square" rtlCol="0">
            <a:spAutoFit/>
          </a:bodyPr>
          <a:lstStyle/>
          <a:p>
            <a:r>
              <a:rPr lang="en-US" sz="2800" b="1" dirty="0" smtClean="0">
                <a:latin typeface="Times New Roman" panose="02020603050405020304" pitchFamily="18" charset="0"/>
                <a:ea typeface="Verdana" panose="020B0604030504040204" pitchFamily="34" charset="0"/>
                <a:cs typeface="Times New Roman" panose="02020603050405020304" pitchFamily="18" charset="0"/>
              </a:rPr>
              <a:t>Objectives :</a:t>
            </a:r>
            <a:endParaRPr lang="en-US"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TextBox 1"/>
          <p:cNvSpPr txBox="1"/>
          <p:nvPr/>
        </p:nvSpPr>
        <p:spPr>
          <a:xfrm>
            <a:off x="990600" y="1183481"/>
            <a:ext cx="7850110" cy="3693319"/>
          </a:xfrm>
          <a:prstGeom prst="rect">
            <a:avLst/>
          </a:prstGeom>
          <a:noFill/>
        </p:spPr>
        <p:txBody>
          <a:bodyPr wrap="square" rtlCol="0">
            <a:spAutoFit/>
          </a:bodyPr>
          <a:lstStyle/>
          <a:p>
            <a:r>
              <a:rPr lang="en-US" dirty="0" smtClean="0">
                <a:latin typeface="Times New Roman" panose="02020603050405020304" pitchFamily="18" charset="0"/>
                <a:ea typeface="Verdana" panose="020B0604030504040204" pitchFamily="34" charset="0"/>
                <a:cs typeface="Times New Roman" panose="02020603050405020304" pitchFamily="18" charset="0"/>
              </a:rPr>
              <a:t>	The  </a:t>
            </a:r>
            <a:r>
              <a:rPr lang="en-US" dirty="0">
                <a:latin typeface="Times New Roman" panose="02020603050405020304" pitchFamily="18" charset="0"/>
                <a:ea typeface="Verdana" panose="020B0604030504040204" pitchFamily="34" charset="0"/>
                <a:cs typeface="Times New Roman" panose="02020603050405020304" pitchFamily="18" charset="0"/>
              </a:rPr>
              <a:t>main purpose of the placement cell is to facilitate the process of placement  and to ensure that each eligible student gets an opportunity to face the recruitment process. </a:t>
            </a:r>
            <a:endParaRPr lang="en-US" dirty="0" smtClean="0">
              <a:latin typeface="Times New Roman" panose="02020603050405020304" pitchFamily="18" charset="0"/>
              <a:ea typeface="Verdana" panose="020B0604030504040204" pitchFamily="34" charset="0"/>
              <a:cs typeface="Times New Roman" panose="02020603050405020304" pitchFamily="18" charset="0"/>
            </a:endParaRPr>
          </a:p>
          <a:p>
            <a:r>
              <a:rPr lang="en-US" dirty="0">
                <a:latin typeface="Times New Roman" panose="02020603050405020304" pitchFamily="18" charset="0"/>
                <a:ea typeface="Verdana" panose="020B0604030504040204" pitchFamily="34" charset="0"/>
                <a:cs typeface="Times New Roman" panose="02020603050405020304" pitchFamily="18" charset="0"/>
              </a:rPr>
              <a:t>	</a:t>
            </a:r>
            <a:r>
              <a:rPr lang="en-US" dirty="0" smtClean="0">
                <a:latin typeface="Times New Roman" panose="02020603050405020304" pitchFamily="18" charset="0"/>
                <a:ea typeface="Verdana" panose="020B0604030504040204" pitchFamily="34" charset="0"/>
                <a:cs typeface="Times New Roman" panose="02020603050405020304" pitchFamily="18" charset="0"/>
              </a:rPr>
              <a:t>This </a:t>
            </a:r>
            <a:r>
              <a:rPr lang="en-US" dirty="0">
                <a:latin typeface="Times New Roman" panose="02020603050405020304" pitchFamily="18" charset="0"/>
                <a:ea typeface="Verdana" panose="020B0604030504040204" pitchFamily="34" charset="0"/>
                <a:cs typeface="Times New Roman" panose="02020603050405020304" pitchFamily="18" charset="0"/>
              </a:rPr>
              <a:t>project provides the facility of maintaining the details of the students and gets the requested list of candidates for the companies who would like to recruit the students based on given query. In this project we are including the </a:t>
            </a:r>
            <a:r>
              <a:rPr lang="en-US" dirty="0" err="1">
                <a:latin typeface="Times New Roman" panose="02020603050405020304" pitchFamily="18" charset="0"/>
                <a:ea typeface="Verdana" panose="020B0604030504040204" pitchFamily="34" charset="0"/>
                <a:cs typeface="Times New Roman" panose="02020603050405020304" pitchFamily="18" charset="0"/>
              </a:rPr>
              <a:t>chatbot</a:t>
            </a:r>
            <a:r>
              <a:rPr lang="en-US" dirty="0">
                <a:latin typeface="Times New Roman" panose="02020603050405020304" pitchFamily="18" charset="0"/>
                <a:ea typeface="Verdana" panose="020B0604030504040204" pitchFamily="34" charset="0"/>
                <a:cs typeface="Times New Roman" panose="02020603050405020304" pitchFamily="18" charset="0"/>
              </a:rPr>
              <a:t> for interaction between students, companies and placement </a:t>
            </a:r>
            <a:r>
              <a:rPr lang="en-US" dirty="0" smtClean="0">
                <a:latin typeface="Times New Roman" panose="02020603050405020304" pitchFamily="18" charset="0"/>
                <a:ea typeface="Verdana" panose="020B0604030504040204" pitchFamily="34" charset="0"/>
                <a:cs typeface="Times New Roman" panose="02020603050405020304" pitchFamily="18" charset="0"/>
              </a:rPr>
              <a:t>officer.</a:t>
            </a:r>
          </a:p>
          <a:p>
            <a:r>
              <a:rPr lang="en-US" dirty="0" smtClean="0">
                <a:latin typeface="Times New Roman" panose="02020603050405020304" pitchFamily="18" charset="0"/>
                <a:ea typeface="Verdana" panose="020B0604030504040204" pitchFamily="34" charset="0"/>
                <a:cs typeface="Times New Roman" panose="02020603050405020304" pitchFamily="18" charset="0"/>
              </a:rPr>
              <a:t> </a:t>
            </a:r>
          </a:p>
          <a:p>
            <a:pPr marL="285750" indent="-285750">
              <a:buFont typeface="Wingdings" panose="05000000000000000000" pitchFamily="2" charset="2"/>
              <a:buChar char="Ø"/>
            </a:pPr>
            <a:r>
              <a:rPr lang="en-US" dirty="0" smtClean="0">
                <a:latin typeface="Times New Roman" panose="02020603050405020304" pitchFamily="18" charset="0"/>
                <a:ea typeface="Verdana" panose="020B0604030504040204" pitchFamily="34" charset="0"/>
                <a:cs typeface="Times New Roman" panose="02020603050405020304" pitchFamily="18" charset="0"/>
              </a:rPr>
              <a:t>To </a:t>
            </a:r>
            <a:r>
              <a:rPr lang="en-US" dirty="0">
                <a:latin typeface="Times New Roman" panose="02020603050405020304" pitchFamily="18" charset="0"/>
                <a:ea typeface="Verdana" panose="020B0604030504040204" pitchFamily="34" charset="0"/>
                <a:cs typeface="Times New Roman" panose="02020603050405020304" pitchFamily="18" charset="0"/>
              </a:rPr>
              <a:t>provide guidance to the students for selecting right career path. </a:t>
            </a:r>
            <a:endParaRPr lang="en-US" dirty="0" smtClean="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Wingdings" panose="05000000000000000000" pitchFamily="2" charset="2"/>
              <a:buChar char="Ø"/>
            </a:pPr>
            <a:endParaRPr lang="en-US" dirty="0" smtClean="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Wingdings" panose="05000000000000000000" pitchFamily="2" charset="2"/>
              <a:buChar char="Ø"/>
            </a:pPr>
            <a:r>
              <a:rPr lang="en-US" dirty="0" smtClean="0">
                <a:latin typeface="Times New Roman" panose="02020603050405020304" pitchFamily="18" charset="0"/>
                <a:ea typeface="Verdana" panose="020B0604030504040204" pitchFamily="34" charset="0"/>
                <a:cs typeface="Times New Roman" panose="02020603050405020304" pitchFamily="18" charset="0"/>
              </a:rPr>
              <a:t>Easy </a:t>
            </a:r>
            <a:r>
              <a:rPr lang="en-US" dirty="0">
                <a:latin typeface="Times New Roman" panose="02020603050405020304" pitchFamily="18" charset="0"/>
                <a:ea typeface="Verdana" panose="020B0604030504040204" pitchFamily="34" charset="0"/>
                <a:cs typeface="Times New Roman" panose="02020603050405020304" pitchFamily="18" charset="0"/>
              </a:rPr>
              <a:t>for companies to find best employees for their organization.    </a:t>
            </a:r>
            <a:endParaRPr lang="en-US" dirty="0" smtClean="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Wingdings" panose="05000000000000000000" pitchFamily="2" charset="2"/>
              <a:buChar char="Ø"/>
            </a:pPr>
            <a:endParaRPr lang="en-US" dirty="0" smtClean="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Wingdings" panose="05000000000000000000" pitchFamily="2" charset="2"/>
              <a:buChar char="Ø"/>
            </a:pPr>
            <a:r>
              <a:rPr lang="en-US" dirty="0" smtClean="0">
                <a:latin typeface="Times New Roman" panose="02020603050405020304" pitchFamily="18" charset="0"/>
                <a:ea typeface="Verdana" panose="020B0604030504040204" pitchFamily="34" charset="0"/>
                <a:cs typeface="Times New Roman" panose="02020603050405020304" pitchFamily="18" charset="0"/>
              </a:rPr>
              <a:t>Easy </a:t>
            </a:r>
            <a:r>
              <a:rPr lang="en-US" dirty="0">
                <a:latin typeface="Times New Roman" panose="02020603050405020304" pitchFamily="18" charset="0"/>
                <a:ea typeface="Verdana" panose="020B0604030504040204" pitchFamily="34" charset="0"/>
                <a:cs typeface="Times New Roman" panose="02020603050405020304" pitchFamily="18" charset="0"/>
              </a:rPr>
              <a:t>for students to get placed in good companies. </a:t>
            </a:r>
          </a:p>
        </p:txBody>
      </p:sp>
    </p:spTree>
    <p:extLst>
      <p:ext uri="{BB962C8B-B14F-4D97-AF65-F5344CB8AC3E}">
        <p14:creationId xmlns:p14="http://schemas.microsoft.com/office/powerpoint/2010/main" val="25441069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989090" y="304800"/>
            <a:ext cx="7621510" cy="523220"/>
          </a:xfrm>
          <a:prstGeom prst="rect">
            <a:avLst/>
          </a:prstGeom>
          <a:noFill/>
        </p:spPr>
        <p:txBody>
          <a:bodyPr wrap="square" rtlCol="0">
            <a:spAutoFit/>
          </a:bodyPr>
          <a:lstStyle/>
          <a:p>
            <a:r>
              <a:rPr lang="en-US" sz="2800" b="1" dirty="0" smtClean="0">
                <a:latin typeface="Times New Roman" panose="02020603050405020304" pitchFamily="18" charset="0"/>
                <a:ea typeface="Verdana" panose="020B0604030504040204" pitchFamily="34" charset="0"/>
                <a:cs typeface="Times New Roman" panose="02020603050405020304" pitchFamily="18" charset="0"/>
              </a:rPr>
              <a:t>Scope :</a:t>
            </a:r>
            <a:endParaRPr lang="en-US"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TextBox 1"/>
          <p:cNvSpPr txBox="1"/>
          <p:nvPr/>
        </p:nvSpPr>
        <p:spPr>
          <a:xfrm>
            <a:off x="455690" y="989886"/>
            <a:ext cx="8154910" cy="4247317"/>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	We </a:t>
            </a:r>
            <a:r>
              <a:rPr lang="en-US" dirty="0">
                <a:latin typeface="Times New Roman" panose="02020603050405020304" pitchFamily="18" charset="0"/>
                <a:cs typeface="Times New Roman" panose="02020603050405020304" pitchFamily="18" charset="0"/>
              </a:rPr>
              <a:t>can store information of all the students. Various companies can access the information. Students can maintain their information and can update it. Notifications are sent to students about the companies. Students can access previous information about placement</a:t>
            </a:r>
            <a:r>
              <a:rPr lang="en-US" dirty="0" smtClean="0">
                <a:latin typeface="Times New Roman" panose="02020603050405020304" pitchFamily="18" charset="0"/>
                <a:cs typeface="Times New Roman" panose="02020603050405020304" pitchFamily="18" charset="0"/>
              </a:rPr>
              <a:t>.</a:t>
            </a:r>
          </a:p>
          <a:p>
            <a:endParaRPr lang="en-US"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Providing </a:t>
            </a:r>
            <a:r>
              <a:rPr lang="en-US" dirty="0">
                <a:latin typeface="Times New Roman" panose="02020603050405020304" pitchFamily="18" charset="0"/>
                <a:cs typeface="Times New Roman" panose="02020603050405020304" pitchFamily="18" charset="0"/>
              </a:rPr>
              <a:t>searching facility to recruiter based on the student’s knowledge. </a:t>
            </a:r>
          </a:p>
          <a:p>
            <a:pPr marL="342900" indent="-342900">
              <a:buFont typeface="Wingdings" panose="05000000000000000000" pitchFamily="2" charset="2"/>
              <a:buChar char="Ø"/>
            </a:pPr>
            <a:endParaRPr lang="en-US"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system helps to students to prepare as per the companies requirements as the companies post their requirements to this system.   </a:t>
            </a:r>
          </a:p>
          <a:p>
            <a:pPr marL="342900" indent="-342900">
              <a:buFont typeface="Wingdings" panose="05000000000000000000" pitchFamily="2" charset="2"/>
              <a:buChar char="Ø"/>
            </a:pPr>
            <a:endParaRPr lang="en-US"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system also stores the all educational and other details of all eligible students for placement. </a:t>
            </a:r>
          </a:p>
          <a:p>
            <a:pPr marL="342900" indent="-342900">
              <a:buFont typeface="Wingdings" panose="05000000000000000000" pitchFamily="2" charset="2"/>
              <a:buChar char="Ø"/>
            </a:pPr>
            <a:endParaRPr lang="en-US"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Most </a:t>
            </a:r>
            <a:r>
              <a:rPr lang="en-US" dirty="0">
                <a:latin typeface="Times New Roman" panose="02020603050405020304" pitchFamily="18" charset="0"/>
                <a:cs typeface="Times New Roman" panose="02020603050405020304" pitchFamily="18" charset="0"/>
              </a:rPr>
              <a:t>of the companies interact with the college by this system. </a:t>
            </a: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49825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971490"/>
            <a:ext cx="236220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List of Forms :</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TextBox 1"/>
          <p:cNvSpPr txBox="1"/>
          <p:nvPr/>
        </p:nvSpPr>
        <p:spPr>
          <a:xfrm>
            <a:off x="2820910" y="1021140"/>
            <a:ext cx="4341890" cy="2062103"/>
          </a:xfrm>
          <a:prstGeom prst="rect">
            <a:avLst/>
          </a:prstGeom>
          <a:noFill/>
        </p:spPr>
        <p:txBody>
          <a:bodyPr wrap="square" rtlCol="0">
            <a:spAutoFit/>
          </a:bodyPr>
          <a:lstStyle/>
          <a:p>
            <a:pPr marL="285750" indent="-285750">
              <a:buFont typeface="Wingdings" panose="05000000000000000000" pitchFamily="2" charset="2"/>
              <a:buChar char="Ø"/>
            </a:pPr>
            <a:r>
              <a:rPr lang="en-US" sz="1600" dirty="0" smtClean="0">
                <a:latin typeface="Times New Roman" panose="02020603050405020304" pitchFamily="18" charset="0"/>
                <a:cs typeface="Times New Roman" panose="02020603050405020304" pitchFamily="18" charset="0"/>
              </a:rPr>
              <a:t>Student Registration</a:t>
            </a:r>
          </a:p>
          <a:p>
            <a:pPr marL="285750" indent="-285750">
              <a:buFont typeface="Wingdings" panose="05000000000000000000" pitchFamily="2" charset="2"/>
              <a:buChar char="Ø"/>
            </a:pPr>
            <a:r>
              <a:rPr lang="en-US" sz="1600" dirty="0" smtClean="0">
                <a:latin typeface="Times New Roman" panose="02020603050405020304" pitchFamily="18" charset="0"/>
                <a:cs typeface="Times New Roman" panose="02020603050405020304" pitchFamily="18" charset="0"/>
              </a:rPr>
              <a:t>Student Update Profile</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smtClean="0">
                <a:latin typeface="Times New Roman" panose="02020603050405020304" pitchFamily="18" charset="0"/>
                <a:cs typeface="Times New Roman" panose="02020603050405020304" pitchFamily="18" charset="0"/>
              </a:rPr>
              <a:t>Company Registration</a:t>
            </a:r>
          </a:p>
          <a:p>
            <a:pPr marL="285750" indent="-285750">
              <a:buFont typeface="Wingdings" panose="05000000000000000000" pitchFamily="2" charset="2"/>
              <a:buChar char="Ø"/>
            </a:pPr>
            <a:r>
              <a:rPr lang="en-US" sz="1600" dirty="0" smtClean="0">
                <a:latin typeface="Times New Roman" panose="02020603050405020304" pitchFamily="18" charset="0"/>
                <a:cs typeface="Times New Roman" panose="02020603050405020304" pitchFamily="18" charset="0"/>
              </a:rPr>
              <a:t>Drive Details Form</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smtClean="0">
                <a:latin typeface="Times New Roman" panose="02020603050405020304" pitchFamily="18" charset="0"/>
                <a:cs typeface="Times New Roman" panose="02020603050405020304" pitchFamily="18" charset="0"/>
              </a:rPr>
              <a:t>Login (Student, Administrator, Company)</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smtClean="0">
                <a:latin typeface="Times New Roman" panose="02020603050405020304" pitchFamily="18" charset="0"/>
                <a:cs typeface="Times New Roman" panose="02020603050405020304" pitchFamily="18" charset="0"/>
              </a:rPr>
              <a:t>Feedback</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smtClean="0">
                <a:latin typeface="Times New Roman" panose="02020603050405020304" pitchFamily="18" charset="0"/>
                <a:cs typeface="Times New Roman" panose="02020603050405020304" pitchFamily="18" charset="0"/>
              </a:rPr>
              <a:t>Administrator Control Panel</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dirty="0" smtClean="0">
                <a:latin typeface="Times New Roman" panose="02020603050405020304" pitchFamily="18" charset="0"/>
                <a:cs typeface="Times New Roman" panose="02020603050405020304" pitchFamily="18" charset="0"/>
              </a:rPr>
              <a:t>Updates by the Administrator</a:t>
            </a:r>
          </a:p>
        </p:txBody>
      </p:sp>
      <p:sp>
        <p:nvSpPr>
          <p:cNvPr id="6" name="TextBox 5"/>
          <p:cNvSpPr txBox="1"/>
          <p:nvPr/>
        </p:nvSpPr>
        <p:spPr>
          <a:xfrm>
            <a:off x="685800" y="3562290"/>
            <a:ext cx="243689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List of  Reports:</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7" name="TextBox 6"/>
          <p:cNvSpPr txBox="1"/>
          <p:nvPr/>
        </p:nvSpPr>
        <p:spPr>
          <a:xfrm>
            <a:off x="2895600" y="3570982"/>
            <a:ext cx="5334000" cy="1077218"/>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Student Report </a:t>
            </a:r>
            <a:r>
              <a:rPr lang="en-US" sz="1600" dirty="0" smtClean="0">
                <a:latin typeface="Times New Roman" panose="02020603050405020304" pitchFamily="18" charset="0"/>
                <a:cs typeface="Times New Roman" panose="02020603050405020304" pitchFamily="18" charset="0"/>
              </a:rPr>
              <a:t>(Registered </a:t>
            </a:r>
            <a:r>
              <a:rPr lang="en-US" sz="1600" dirty="0" err="1" smtClean="0">
                <a:latin typeface="Times New Roman" panose="02020603050405020304" pitchFamily="18" charset="0"/>
                <a:cs typeface="Times New Roman" panose="02020603050405020304" pitchFamily="18" charset="0"/>
              </a:rPr>
              <a:t>Student,Placed</a:t>
            </a:r>
            <a:r>
              <a:rPr lang="en-US" sz="1600" dirty="0" smtClean="0">
                <a:latin typeface="Times New Roman" panose="02020603050405020304" pitchFamily="18" charset="0"/>
                <a:cs typeface="Times New Roman" panose="02020603050405020304" pitchFamily="18" charset="0"/>
              </a:rPr>
              <a:t> Students) </a:t>
            </a:r>
          </a:p>
          <a:p>
            <a:pPr marL="285750" indent="-285750">
              <a:buFont typeface="Wingdings" panose="05000000000000000000" pitchFamily="2" charset="2"/>
              <a:buChar char="Ø"/>
            </a:pP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Company Report </a:t>
            </a:r>
            <a:r>
              <a:rPr lang="en-US" sz="1600" dirty="0" smtClean="0">
                <a:latin typeface="Times New Roman" panose="02020603050405020304" pitchFamily="18" charset="0"/>
                <a:cs typeface="Times New Roman" panose="02020603050405020304" pitchFamily="18" charset="0"/>
              </a:rPr>
              <a:t>(Registered Company) </a:t>
            </a:r>
          </a:p>
          <a:p>
            <a:pPr marL="285750" indent="-285750">
              <a:buFont typeface="Wingdings" panose="05000000000000000000" pitchFamily="2" charset="2"/>
              <a:buChar char="Ø"/>
            </a:pPr>
            <a:r>
              <a:rPr lang="en-US" sz="1600" dirty="0" smtClean="0">
                <a:latin typeface="Times New Roman" panose="02020603050405020304" pitchFamily="18" charset="0"/>
                <a:cs typeface="Times New Roman" panose="02020603050405020304" pitchFamily="18" charset="0"/>
              </a:rPr>
              <a:t> Notifications and Updates </a:t>
            </a:r>
          </a:p>
          <a:p>
            <a:pPr marL="285750" indent="-285750">
              <a:buFont typeface="Wingdings" panose="05000000000000000000" pitchFamily="2" charset="2"/>
              <a:buChar char="Ø"/>
            </a:pPr>
            <a:r>
              <a:rPr lang="en-US" sz="1600" dirty="0" smtClean="0">
                <a:latin typeface="Times New Roman" panose="02020603050405020304" pitchFamily="18" charset="0"/>
                <a:cs typeface="Times New Roman" panose="02020603050405020304" pitchFamily="18" charset="0"/>
              </a:rPr>
              <a:t> Admin Confirmation(</a:t>
            </a:r>
            <a:r>
              <a:rPr lang="en-US" sz="1600" dirty="0" err="1">
                <a:latin typeface="Times New Roman" panose="02020603050405020304" pitchFamily="18" charset="0"/>
                <a:cs typeface="Times New Roman" panose="02020603050405020304" pitchFamily="18" charset="0"/>
              </a:rPr>
              <a:t>C</a:t>
            </a:r>
            <a:r>
              <a:rPr lang="en-US" sz="1600" dirty="0" err="1" smtClean="0">
                <a:latin typeface="Times New Roman" panose="02020603050405020304" pitchFamily="18" charset="0"/>
                <a:cs typeface="Times New Roman" panose="02020603050405020304" pitchFamily="18" charset="0"/>
              </a:rPr>
              <a:t>ompnay</a:t>
            </a:r>
            <a:r>
              <a:rPr lang="en-US" sz="1600" dirty="0" smtClean="0">
                <a:latin typeface="Times New Roman" panose="02020603050405020304" pitchFamily="18" charset="0"/>
                <a:cs typeface="Times New Roman" panose="02020603050405020304" pitchFamily="18" charset="0"/>
              </a:rPr>
              <a:t>, Student)</a:t>
            </a:r>
          </a:p>
        </p:txBody>
      </p:sp>
    </p:spTree>
    <p:extLst>
      <p:ext uri="{BB962C8B-B14F-4D97-AF65-F5344CB8AC3E}">
        <p14:creationId xmlns:p14="http://schemas.microsoft.com/office/powerpoint/2010/main" val="25441069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 y="1447800"/>
            <a:ext cx="8534400" cy="4979427"/>
          </a:xfrm>
        </p:spPr>
      </p:pic>
      <p:sp>
        <p:nvSpPr>
          <p:cNvPr id="5" name="TextBox 4"/>
          <p:cNvSpPr txBox="1"/>
          <p:nvPr/>
        </p:nvSpPr>
        <p:spPr>
          <a:xfrm>
            <a:off x="685800" y="838200"/>
            <a:ext cx="350520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Database  name : PCMS</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12433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00" y="1752600"/>
            <a:ext cx="8691200" cy="4267200"/>
          </a:xfrm>
          <a:prstGeom prst="rect">
            <a:avLst/>
          </a:prstGeom>
        </p:spPr>
      </p:pic>
      <p:sp>
        <p:nvSpPr>
          <p:cNvPr id="11" name="TextBox 10"/>
          <p:cNvSpPr txBox="1"/>
          <p:nvPr/>
        </p:nvSpPr>
        <p:spPr>
          <a:xfrm>
            <a:off x="685800" y="762000"/>
            <a:ext cx="3505200" cy="400110"/>
          </a:xfrm>
          <a:prstGeom prst="rect">
            <a:avLst/>
          </a:prstGeom>
          <a:noFill/>
        </p:spPr>
        <p:txBody>
          <a:bodyPr wrap="square" rtlCol="0">
            <a:spAutoFit/>
          </a:bodyPr>
          <a:lstStyle/>
          <a:p>
            <a:r>
              <a:rPr lang="en-US" sz="2000" b="1" dirty="0" err="1" smtClean="0">
                <a:latin typeface="Times New Roman" panose="02020603050405020304" pitchFamily="18" charset="0"/>
                <a:ea typeface="Verdana" panose="020B0604030504040204" pitchFamily="34" charset="0"/>
                <a:cs typeface="Times New Roman" panose="02020603050405020304" pitchFamily="18" charset="0"/>
              </a:rPr>
              <a:t>Tbale</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 name : </a:t>
            </a:r>
            <a:r>
              <a:rPr lang="en-US" sz="2000" b="1" dirty="0" err="1" smtClean="0">
                <a:latin typeface="Times New Roman" panose="02020603050405020304" pitchFamily="18" charset="0"/>
                <a:ea typeface="Verdana" panose="020B0604030504040204" pitchFamily="34" charset="0"/>
                <a:cs typeface="Times New Roman" panose="02020603050405020304" pitchFamily="18" charset="0"/>
              </a:rPr>
              <a:t>Company_reg</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45813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064" y="1295400"/>
            <a:ext cx="8627872" cy="5029200"/>
          </a:xfrm>
          <a:prstGeom prst="rect">
            <a:avLst/>
          </a:prstGeom>
        </p:spPr>
      </p:pic>
      <p:sp>
        <p:nvSpPr>
          <p:cNvPr id="3" name="TextBox 2"/>
          <p:cNvSpPr txBox="1"/>
          <p:nvPr/>
        </p:nvSpPr>
        <p:spPr>
          <a:xfrm>
            <a:off x="457200" y="762000"/>
            <a:ext cx="350520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Table name : </a:t>
            </a:r>
            <a:r>
              <a:rPr lang="en-US" sz="2000" b="1" dirty="0" err="1" smtClean="0">
                <a:latin typeface="Times New Roman" panose="02020603050405020304" pitchFamily="18" charset="0"/>
                <a:ea typeface="Verdana" panose="020B0604030504040204" pitchFamily="34" charset="0"/>
                <a:cs typeface="Times New Roman" panose="02020603050405020304" pitchFamily="18" charset="0"/>
              </a:rPr>
              <a:t>Student_reg</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51336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53" y="1371600"/>
            <a:ext cx="8995894" cy="5029200"/>
          </a:xfrm>
          <a:prstGeom prst="rect">
            <a:avLst/>
          </a:prstGeom>
        </p:spPr>
      </p:pic>
      <p:sp>
        <p:nvSpPr>
          <p:cNvPr id="3" name="TextBox 2"/>
          <p:cNvSpPr txBox="1"/>
          <p:nvPr/>
        </p:nvSpPr>
        <p:spPr>
          <a:xfrm>
            <a:off x="685800" y="685800"/>
            <a:ext cx="350520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Table name : </a:t>
            </a:r>
            <a:r>
              <a:rPr lang="en-US" sz="2000" b="1" dirty="0" err="1" smtClean="0">
                <a:latin typeface="Times New Roman" panose="02020603050405020304" pitchFamily="18" charset="0"/>
                <a:ea typeface="Verdana" panose="020B0604030504040204" pitchFamily="34" charset="0"/>
                <a:cs typeface="Times New Roman" panose="02020603050405020304" pitchFamily="18" charset="0"/>
              </a:rPr>
              <a:t>tempStudent</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51336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8768"/>
            <a:ext cx="9144000" cy="4340463"/>
          </a:xfrm>
          <a:prstGeom prst="rect">
            <a:avLst/>
          </a:prstGeom>
        </p:spPr>
      </p:pic>
      <p:sp>
        <p:nvSpPr>
          <p:cNvPr id="3" name="TextBox 2"/>
          <p:cNvSpPr txBox="1"/>
          <p:nvPr/>
        </p:nvSpPr>
        <p:spPr>
          <a:xfrm>
            <a:off x="420806" y="590490"/>
            <a:ext cx="541020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Form : </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Home</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808709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501" y="1828800"/>
            <a:ext cx="8754998" cy="4267200"/>
          </a:xfrm>
          <a:prstGeom prst="rect">
            <a:avLst/>
          </a:prstGeom>
        </p:spPr>
      </p:pic>
      <p:sp>
        <p:nvSpPr>
          <p:cNvPr id="4" name="TextBox 3"/>
          <p:cNvSpPr txBox="1"/>
          <p:nvPr/>
        </p:nvSpPr>
        <p:spPr>
          <a:xfrm>
            <a:off x="685800" y="990600"/>
            <a:ext cx="350520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Form : Login</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51336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905000"/>
            <a:ext cx="8991600" cy="4389120"/>
          </a:xfrm>
          <a:prstGeom prst="rect">
            <a:avLst/>
          </a:prstGeom>
        </p:spPr>
      </p:pic>
      <p:sp>
        <p:nvSpPr>
          <p:cNvPr id="3" name="TextBox 2"/>
          <p:cNvSpPr txBox="1"/>
          <p:nvPr/>
        </p:nvSpPr>
        <p:spPr>
          <a:xfrm>
            <a:off x="685800" y="990600"/>
            <a:ext cx="541020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Form : Confirmation from Admin Panel</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51336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6400"/>
            <a:ext cx="9144000" cy="4344091"/>
          </a:xfrm>
          <a:prstGeom prst="rect">
            <a:avLst/>
          </a:prstGeom>
        </p:spPr>
      </p:pic>
      <p:sp>
        <p:nvSpPr>
          <p:cNvPr id="4" name="TextBox 3"/>
          <p:cNvSpPr txBox="1"/>
          <p:nvPr/>
        </p:nvSpPr>
        <p:spPr>
          <a:xfrm>
            <a:off x="685800" y="990600"/>
            <a:ext cx="541020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Form : </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Admin </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Panel</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46675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3501"/>
            <a:ext cx="9144000" cy="4350997"/>
          </a:xfrm>
          <a:prstGeom prst="rect">
            <a:avLst/>
          </a:prstGeom>
        </p:spPr>
      </p:pic>
      <p:sp>
        <p:nvSpPr>
          <p:cNvPr id="3" name="TextBox 2"/>
          <p:cNvSpPr txBox="1"/>
          <p:nvPr/>
        </p:nvSpPr>
        <p:spPr>
          <a:xfrm>
            <a:off x="457200" y="457200"/>
            <a:ext cx="541020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Form : </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Company Report</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571474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331109"/>
            <a:ext cx="8839200" cy="4195782"/>
          </a:xfrm>
          <a:prstGeom prst="rect">
            <a:avLst/>
          </a:prstGeom>
        </p:spPr>
      </p:pic>
      <p:sp>
        <p:nvSpPr>
          <p:cNvPr id="3" name="TextBox 2"/>
          <p:cNvSpPr txBox="1"/>
          <p:nvPr/>
        </p:nvSpPr>
        <p:spPr>
          <a:xfrm>
            <a:off x="304800" y="590490"/>
            <a:ext cx="541020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Form : </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Student Panel</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36905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0427"/>
            <a:ext cx="9144000" cy="4177146"/>
          </a:xfrm>
          <a:prstGeom prst="rect">
            <a:avLst/>
          </a:prstGeom>
        </p:spPr>
      </p:pic>
      <p:sp>
        <p:nvSpPr>
          <p:cNvPr id="3" name="TextBox 2"/>
          <p:cNvSpPr txBox="1"/>
          <p:nvPr/>
        </p:nvSpPr>
        <p:spPr>
          <a:xfrm>
            <a:off x="533400" y="625747"/>
            <a:ext cx="5410200" cy="400110"/>
          </a:xfrm>
          <a:prstGeom prst="rect">
            <a:avLst/>
          </a:prstGeom>
          <a:noFill/>
        </p:spPr>
        <p:txBody>
          <a:bodyPr wrap="square" rtlCol="0">
            <a:spAutoFit/>
          </a:bodyPr>
          <a:lstStyle/>
          <a:p>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Form : </a:t>
            </a:r>
            <a:r>
              <a:rPr lang="en-US" sz="2000" b="1" dirty="0" smtClean="0">
                <a:latin typeface="Times New Roman" panose="02020603050405020304" pitchFamily="18" charset="0"/>
                <a:ea typeface="Verdana" panose="020B0604030504040204" pitchFamily="34" charset="0"/>
                <a:cs typeface="Times New Roman" panose="02020603050405020304" pitchFamily="18" charset="0"/>
              </a:rPr>
              <a:t>Student Registration</a:t>
            </a:r>
            <a:endParaRPr lang="en-US" sz="14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36905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0" y="2667000"/>
            <a:ext cx="5867400" cy="1446550"/>
          </a:xfrm>
          <a:prstGeom prst="rect">
            <a:avLst/>
          </a:prstGeom>
          <a:noFill/>
        </p:spPr>
        <p:txBody>
          <a:bodyPr wrap="square" rtlCol="0">
            <a:spAutoFit/>
          </a:bodyPr>
          <a:lstStyle/>
          <a:p>
            <a:r>
              <a:rPr lang="en-US" sz="8800" b="1" dirty="0" smtClean="0">
                <a:ln w="17780" cmpd="sng">
                  <a:solidFill>
                    <a:schemeClr val="tx1">
                      <a:lumMod val="65000"/>
                      <a:lumOff val="35000"/>
                    </a:schemeClr>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anose="02020603050405020304" pitchFamily="18" charset="0"/>
                <a:ea typeface="Verdana" panose="020B0604030504040204" pitchFamily="34" charset="0"/>
                <a:cs typeface="Times New Roman" panose="02020603050405020304" pitchFamily="18" charset="0"/>
              </a:rPr>
              <a:t>Thank You</a:t>
            </a:r>
            <a:endParaRPr lang="en-US" sz="6600" b="1" dirty="0">
              <a:ln w="17780" cmpd="sng">
                <a:solidFill>
                  <a:schemeClr val="tx1">
                    <a:lumMod val="65000"/>
                    <a:lumOff val="35000"/>
                  </a:schemeClr>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666671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131</TotalTime>
  <Words>142</Words>
  <Application>Microsoft Office PowerPoint</Application>
  <PresentationFormat>On-screen Show (4:3)</PresentationFormat>
  <Paragraphs>58</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Abhishek</dc:creator>
  <cp:lastModifiedBy>Abhishek</cp:lastModifiedBy>
  <cp:revision>59</cp:revision>
  <dcterms:created xsi:type="dcterms:W3CDTF">2019-08-18T03:24:02Z</dcterms:created>
  <dcterms:modified xsi:type="dcterms:W3CDTF">2019-10-15T08:21:58Z</dcterms:modified>
</cp:coreProperties>
</file>